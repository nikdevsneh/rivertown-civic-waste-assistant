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4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645920"/>
            <a:ext cx="5029200" cy="5029200"/>
          </a:xfrm>
          <a:prstGeom prst="ellipse">
            <a:avLst/>
          </a:prstGeom>
          <a:solidFill>
            <a:srgbClr val="2E5548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3840480" cy="3840480"/>
          </a:xfrm>
          <a:prstGeom prst="ellipse">
            <a:avLst/>
          </a:prstGeom>
          <a:solidFill>
            <a:srgbClr val="1D3A3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2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 · SUSTAINABLE CITIES     SDG 12 · RESPONSIBLE CONSUMPTION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8686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Rivertown Civic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Waste Assistant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148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assistant that answers residents' waste-disposal questions directly from municipal policy — so people comply because the rules are finally easy to find.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5623560"/>
            <a:ext cx="7498080" cy="0"/>
          </a:xfrm>
          <a:prstGeom prst="line">
            <a:avLst/>
          </a:prstGeom>
          <a:noFill/>
          <a:ln w="12700">
            <a:solidFill>
              <a:srgbClr val="3E62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·  [Your College Name]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  ·  IBM SkillsBuild &amp; AICTE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881360" cy="2286000"/>
          </a:xfrm>
          <a:prstGeom prst="rect">
            <a:avLst/>
          </a:prstGeom>
          <a:solidFill>
            <a:srgbClr val="DCE6E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50876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1C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might we use AI to </a:t>
            </a:r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244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local waste-management rules and schedules easily accessible</a:t>
            </a:r>
            <a:pPr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1C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so that </a:t>
            </a:r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244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citizens comply and illegal dumping decreases</a:t>
            </a:r>
            <a:pPr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1C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3794760"/>
            <a:ext cx="350215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4069080"/>
            <a:ext cx="457200" cy="457200"/>
          </a:xfrm>
          <a:prstGeom prst="ellipse">
            <a:avLst/>
          </a:prstGeom>
          <a:solidFill>
            <a:srgbClr val="9C4A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663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are scattered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029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 categories, pickup days, and hazardous-waste rules live across notices, PDFs, and ward offices — not one place.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3794760"/>
            <a:ext cx="350215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4069080"/>
            <a:ext cx="457200" cy="457200"/>
          </a:xfrm>
          <a:prstGeom prst="ellipse">
            <a:avLst/>
          </a:prstGeom>
          <a:solidFill>
            <a:srgbClr val="9C4A3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4663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is dense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5029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bye-laws are written for compliance officers, not residents trying to figure out which bin a battery goes in.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3794760"/>
            <a:ext cx="350215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4069080"/>
            <a:ext cx="457200" cy="457200"/>
          </a:xfrm>
          <a:prstGeom prst="ellipse">
            <a:avLst/>
          </a:prstGeom>
          <a:solidFill>
            <a:srgbClr val="9C4A3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663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Non-compliance is costly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5029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leads to mixed waste, missed hazardous-waste pickups, fines, and illegal dumping that burdens sanitation workers.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Affects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and stakeholders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02152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38528" y="1874520"/>
            <a:ext cx="914400" cy="914400"/>
          </a:xfrm>
          <a:prstGeom prst="ellipse">
            <a:avLst/>
          </a:prstGeom>
          <a:solidFill>
            <a:srgbClr val="2446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38528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7180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Residents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474720"/>
            <a:ext cx="26791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fast, plain-language answers about segregation, schedules, and hazardous-waste disposal without hunting through PDFs.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3502152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87568" y="1874520"/>
            <a:ext cx="914400" cy="914400"/>
          </a:xfrm>
          <a:prstGeom prst="ellipse">
            <a:avLst/>
          </a:prstGeom>
          <a:solidFill>
            <a:srgbClr val="B98D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87568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97180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Municipal body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474720"/>
            <a:ext cx="26791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higher compliance and fewer grievance calls answering the same repetitive questions.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554480"/>
            <a:ext cx="3502152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36608" y="1874520"/>
            <a:ext cx="914400" cy="914400"/>
          </a:xfrm>
          <a:prstGeom prst="ellipse">
            <a:avLst/>
          </a:prstGeom>
          <a:solidFill>
            <a:srgbClr val="9C4A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436608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97180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Sanitation workers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3474720"/>
            <a:ext cx="26791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less contaminated, better-segregated waste when residents know and follow the rules correctly.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AI — and Why RAG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257800" cy="4846320"/>
          </a:xfrm>
          <a:prstGeom prst="rect">
            <a:avLst/>
          </a:prstGeom>
          <a:solidFill>
            <a:srgbClr val="F7F5F0"/>
          </a:solidFill>
          <a:ln w="12700">
            <a:solidFill>
              <a:srgbClr val="D8D6C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87452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1C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Resident searches a PDF bye-law, calls the ward office, or guesses — and often guesses wrong.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Answers require reading dense legal text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657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No way to ask a specific, plain-language question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Ward offices field the same questions repeatedly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234440"/>
            <a:ext cx="5349240" cy="4846320"/>
          </a:xfrm>
          <a:prstGeom prst="rect">
            <a:avLst/>
          </a:prstGeom>
          <a:solidFill>
            <a:srgbClr val="2446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2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RAG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187452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in plain language — get an answer grounded in the actual policy text, with its source cited.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108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Retrieves only the relevant policy section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6576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Generates a direct answer instead of a document dump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206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Cites its source — no invented rules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 matters here because the answer must reflect an actual bye-law, not a plausible-sounding guess — accuracy is a compliance and legal question, not just a UX one.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retrieval-augmented generation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577340" y="1828800"/>
            <a:ext cx="731520" cy="731520"/>
          </a:xfrm>
          <a:prstGeom prst="ellipse">
            <a:avLst/>
          </a:prstGeom>
          <a:solidFill>
            <a:srgbClr val="2446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7734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Resident asks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put batteries in the blue bin?”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8D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11980" y="1828800"/>
            <a:ext cx="731520" cy="731520"/>
          </a:xfrm>
          <a:prstGeom prst="ellipse">
            <a:avLst/>
          </a:prstGeom>
          <a:solidFill>
            <a:srgbClr val="B98D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1198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2461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question against policy sections; pull the most relevant excerpt(s)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8D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246620" y="1828800"/>
            <a:ext cx="731520" cy="731520"/>
          </a:xfrm>
          <a:prstGeom prst="ellipse">
            <a:avLst/>
          </a:prstGeom>
          <a:solidFill>
            <a:srgbClr val="2446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4662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2461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only the retrieved excerpt(s) to the model as context — nothing else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8D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0081260" y="1828800"/>
            <a:ext cx="731520" cy="731520"/>
          </a:xfrm>
          <a:prstGeom prst="ellipse">
            <a:avLst/>
          </a:prstGeom>
          <a:solidFill>
            <a:srgbClr val="B98D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8126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+ cite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32461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replies in plain language and names the exact policy section used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5029200"/>
            <a:ext cx="10881360" cy="1234440"/>
          </a:xfrm>
          <a:prstGeom prst="rect">
            <a:avLst/>
          </a:prstGeom>
          <a:solidFill>
            <a:srgbClr val="F2E6C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0120" y="502920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6B5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policy section matches the question, the assistant says so explicitly rather than guessing — this is a deliberate Responsible AI safeguard, not a gap in the demo.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4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 — policy on the left, grounded Q&amp;A on the right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4846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solidFill>
            <a:srgbClr val="EDEFE9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581912"/>
            <a:ext cx="91440" cy="91440"/>
          </a:xfrm>
          <a:prstGeom prst="ellipse">
            <a:avLst/>
          </a:prstGeom>
          <a:solidFill>
            <a:srgbClr val="D8D6C9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581912"/>
            <a:ext cx="91440" cy="91440"/>
          </a:xfrm>
          <a:prstGeom prst="ellipse">
            <a:avLst/>
          </a:prstGeom>
          <a:solidFill>
            <a:srgbClr val="D8D6C9"/>
          </a:solidFill>
          <a:ln/>
        </p:spPr>
      </p:sp>
      <p:sp>
        <p:nvSpPr>
          <p:cNvPr id="8" name="Shape 6"/>
          <p:cNvSpPr/>
          <p:nvPr/>
        </p:nvSpPr>
        <p:spPr>
          <a:xfrm>
            <a:off x="1325880" y="1581912"/>
            <a:ext cx="91440" cy="91440"/>
          </a:xfrm>
          <a:prstGeom prst="ellipse">
            <a:avLst/>
          </a:prstGeom>
          <a:solidFill>
            <a:srgbClr val="D8D6C9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965960"/>
            <a:ext cx="4937760" cy="4160520"/>
          </a:xfrm>
          <a:prstGeom prst="rect">
            <a:avLst/>
          </a:prstGeom>
          <a:solidFill>
            <a:srgbClr val="FBFAF6"/>
          </a:solidFill>
          <a:ln w="9525">
            <a:solidFill>
              <a:srgbClr val="D8D6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Rivertown Municipal Solid Waste Bye-Law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05840" y="2560320"/>
            <a:ext cx="4572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6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8720" y="256032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Waste Segregation Categories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3246120"/>
            <a:ext cx="4572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6C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88720" y="324612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Collection Schedule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0" y="3931920"/>
            <a:ext cx="4572000" cy="566928"/>
          </a:xfrm>
          <a:prstGeom prst="rect">
            <a:avLst/>
          </a:prstGeom>
          <a:solidFill>
            <a:srgbClr val="F2E6C9"/>
          </a:solidFill>
          <a:ln w="6350">
            <a:solidFill>
              <a:srgbClr val="D8D6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88720" y="393192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E-Waste &amp; Hazardous Waste Disposal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" y="4617720"/>
            <a:ext cx="4572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6C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88720" y="461772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Bulk &amp; Construction Waste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5840" y="5303520"/>
            <a:ext cx="4572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6C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88720" y="530352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Non-Compliance &amp; Penalties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1965960"/>
            <a:ext cx="5394960" cy="4160520"/>
          </a:xfrm>
          <a:prstGeom prst="rect">
            <a:avLst/>
          </a:prstGeom>
          <a:solidFill>
            <a:srgbClr val="FBFAF6"/>
          </a:solidFill>
          <a:ln w="9525">
            <a:solidFill>
              <a:srgbClr val="D8D6C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0" y="2148840"/>
            <a:ext cx="2377440" cy="457200"/>
          </a:xfrm>
          <a:prstGeom prst="rect">
            <a:avLst/>
          </a:prstGeom>
          <a:solidFill>
            <a:srgbClr val="DCE6E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15400" y="2148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put batteries in the blue bin?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2743200"/>
            <a:ext cx="4206240" cy="685800"/>
          </a:xfrm>
          <a:prstGeom prst="rect">
            <a:avLst/>
          </a:prstGeom>
          <a:solidFill>
            <a:srgbClr val="F2E6C9"/>
          </a:solidFill>
          <a:ln w="9525">
            <a:solidFill>
              <a:srgbClr val="B98D2D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6263640" y="28163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5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— 3. E-Waste &amp; Hazardous Waste Disposal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26480" y="3611880"/>
            <a:ext cx="4572000" cy="1417320"/>
          </a:xfrm>
          <a:prstGeom prst="rect">
            <a:avLst/>
          </a:prstGeom>
          <a:solidFill>
            <a:srgbClr val="24463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09360" y="373075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 are classified as hazardous waste and can't go in the blue (dry) bin. Drop them at your ward's e-waste kiosk, or the hazardous-waste van on the first Saturday of the month.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4709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E-Waste &amp; Hazardous Waste Disposal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126480" y="5486400"/>
            <a:ext cx="5029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C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63640" y="5486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question about waste rules…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Considerations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257800" cy="233172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6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508760"/>
            <a:ext cx="548640" cy="548640"/>
          </a:xfrm>
          <a:prstGeom prst="ellipse">
            <a:avLst/>
          </a:prstGeom>
          <a:solidFill>
            <a:srgbClr val="2446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508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19456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applies uniformly across wards; the assistant doesn't tailor answers by neighborhood, income, or any resident attribute.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234440"/>
            <a:ext cx="5257800" cy="233172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6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508760"/>
            <a:ext cx="548640" cy="548640"/>
          </a:xfrm>
          <a:prstGeom prst="ellipse">
            <a:avLst/>
          </a:prstGeom>
          <a:solidFill>
            <a:srgbClr val="B98D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508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19456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visibly shows which policy section it was retrieved from before the model responds — no black-box reasoning.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5257800" cy="233172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6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4069080"/>
            <a:ext cx="548640" cy="548640"/>
          </a:xfrm>
          <a:prstGeom prst="ellipse">
            <a:avLst/>
          </a:prstGeom>
          <a:solidFill>
            <a:srgbClr val="9C4A3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069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475488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only answers waste-policy questions and won't guess when no matching section exists, rather than inventing a plausible-sounding rule.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3794760"/>
            <a:ext cx="5257800" cy="233172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6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069080"/>
            <a:ext cx="548640" cy="548640"/>
          </a:xfrm>
          <a:prstGeom prst="ellipse">
            <a:avLst/>
          </a:prstGeom>
          <a:solidFill>
            <a:srgbClr val="5B6B6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4069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75488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personal, location, or household data is collected or stored — questions are stateless and no resident identity is required to use it.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4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implemented at ward level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98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346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calls to ward offices for the same questions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1920240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98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28346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hazardous-waste and bulk-pickup rules, cutting improper disposal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1920240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98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Clearer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28346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expectations, reducing avoidable fines for residents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297680"/>
            <a:ext cx="10881360" cy="1828800"/>
          </a:xfrm>
          <a:prstGeom prst="rect">
            <a:avLst/>
          </a:prstGeom>
          <a:solidFill>
            <a:srgbClr val="1D3A3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2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89204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get instant, trustworthy answers instead of navigating bureaucratic PDFs. The municipal body sees fewer grievance calls and higher segregation compliance. Sanitation workers handle cleaner, better-sorted waste streams — reducing health risk from mixed hazardous material.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Materials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86868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6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664208"/>
            <a:ext cx="457200" cy="457200"/>
          </a:xfrm>
          <a:prstGeom prst="ellipse">
            <a:avLst/>
          </a:prstGeom>
          <a:solidFill>
            <a:srgbClr val="2446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572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demo video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202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 to your recorded walkthrough]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10881360" cy="86868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6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715768"/>
            <a:ext cx="457200" cy="457200"/>
          </a:xfrm>
          <a:prstGeom prst="ellipse">
            <a:avLst/>
          </a:prstGeom>
          <a:solidFill>
            <a:srgbClr val="2446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624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9718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 to your repo]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566160"/>
            <a:ext cx="10881360" cy="86868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6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767328"/>
            <a:ext cx="457200" cy="457200"/>
          </a:xfrm>
          <a:prstGeom prst="ellipse">
            <a:avLst/>
          </a:prstGeom>
          <a:solidFill>
            <a:srgbClr val="2446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675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prototype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0233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 if hosted, e.g. GitHub Pages]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937760"/>
            <a:ext cx="10881360" cy="0"/>
          </a:xfrm>
          <a:prstGeom prst="line">
            <a:avLst/>
          </a:prstGeom>
          <a:noFill/>
          <a:ln w="12700">
            <a:solidFill>
              <a:srgbClr val="D8D6C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5120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Rivertown Civic Waste Assistant  ·  1M1B AI for Sustainability Virtual Internship  ·  SDG 11 &amp; 12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44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2026-09-07T18:07:28Z</dcterms:created>
  <dcterms:modified xsi:type="dcterms:W3CDTF">2026-09-07T18:07:28Z</dcterms:modified>
</cp:coreProperties>
</file>